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($)</c:v>
                </c:pt>
              </c:strCache>
            </c:strRef>
          </c:tx>
          <c:spPr>
            <a:solidFill>
              <a:srgbClr val="8B1A0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1A0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D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E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Inspección
completa</c:v>
                  </c:pt>
                  <c:pt idx="1">
                    <c:v>Muestra
simple n₂</c:v>
                  </c:pt>
                  <c:pt idx="2">
                    <c:v>Muestreo
Doble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</c:v>
                </c:pt>
                <c:pt idx="1">
                  <c:v>250</c:v>
                </c:pt>
                <c:pt idx="2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2834640"/>
          </a:xfrm>
          <a:prstGeom prst="rect">
            <a:avLst/>
          </a:prstGeom>
          <a:solidFill>
            <a:srgbClr val="1A3A5C">
              <a:alpha val="70000"/>
            </a:srgbClr>
          </a:solidFill>
          <a:ln w="1905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MUESTREO DOBLE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DOS FASES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12700">
            <a:solidFill>
              <a:srgbClr val="C4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· Fábrica de Tornillos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bajo Normas APA 7.ª 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Sneyder &amp; Santiago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Contexto y Justificación del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fábrica produce 10,000 tornillos/día.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Especificación: diámetro 10 mm ± 0.5 mm.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cada tornillo con calibrador digital requiere técnico especializado.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medición completa: $50,000 por día.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inviable inspeccionar el 100% de la producción.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MUESTREO DOBLE?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proceso en dos fases complementarias.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barata: clasifica sin medir con precisión.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precisa: solo en una submuestra reducida.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validez estadística con menor costo.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estimado: 99.3% vs. inspección completa.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Nota. Basado en Cochran (1977) y Lohr (2010). Elaboración propia.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Parámetros del Diseño Muestral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(Población)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075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tornillos/día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2926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 (Fase 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3075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2075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visual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292608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60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 (Fase 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3075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075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calibrador digital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2278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± 0.5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7432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de diámetro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2926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Confianza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2278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20040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1.96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743200" cy="292608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NumPy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32278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2648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Nota. np.random.seed(2026) garantiza la reproducibilidad de todos los resultados.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Fase 1 — Inspección Visual Rápida (n₁ = 200)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Aleatoria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4416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np.random.choice(10000, 200, replace=False) para seleccionar 200 tornillos al azar de la población, garantizando que cada elemento tenga igual probabilidad de ser elegido.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Visual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tornillo se clasifica visualmente: 'correcto' si el diámetro parece dentro de [9.3, 10.7] mm (tolerancia ampliada por el ojo humano) o 'sospechoso' si parece fuera de especificación.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64008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1188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Fase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9592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x̄₁ = 10.0442 mm, s₁ = 0.2176 mm. Los 200 tornillos se estratifican: Estrato A (excelente, ≥9.8 mm): 176 · Estrato B (aceptable): 20 · Estrato C (defectuoso): 9.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Nota. Costo Fase 1: $0.50 × 200 = $100.00. Variable auxiliar x (clasificación visual).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Análisis Intermedio — Estratificación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94360" cy="1051560"/>
          </a:xfrm>
          <a:prstGeom prst="rect">
            <a:avLst/>
          </a:prstGeom>
          <a:solidFill>
            <a:srgbClr val="1B6E3A"/>
          </a:solidFill>
          <a:ln w="12700">
            <a:solidFill>
              <a:srgbClr val="1B6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44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Diámetro ≥ 9.8 mm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033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176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1490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07592"/>
            <a:ext cx="2743200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307592"/>
            <a:ext cx="2735885" cy="292608"/>
          </a:xfrm>
          <a:prstGeom prst="rect">
            <a:avLst/>
          </a:prstGeom>
          <a:solidFill>
            <a:srgbClr val="1B6E3A"/>
          </a:solidFill>
          <a:ln w="12700">
            <a:solidFill>
              <a:srgbClr val="1B6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8595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594360" cy="10515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9456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mm – 9.8 mm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267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2724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2542032"/>
            <a:ext cx="2743200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542032"/>
            <a:ext cx="310896" cy="2926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29000"/>
            <a:ext cx="8595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29000"/>
            <a:ext cx="594360" cy="1051560"/>
          </a:xfrm>
          <a:prstGeom prst="rect">
            <a:avLst/>
          </a:prstGeom>
          <a:solidFill>
            <a:srgbClr val="8B1A0D"/>
          </a:solidFill>
          <a:ln w="12700">
            <a:solidFill>
              <a:srgbClr val="8B1A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2900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05840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Defectuoso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813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9.5 mm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89120" y="3959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3776472"/>
            <a:ext cx="2743200" cy="29260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776472"/>
            <a:ext cx="139903" cy="292608"/>
          </a:xfrm>
          <a:prstGeom prst="rect">
            <a:avLst/>
          </a:prstGeom>
          <a:solidFill>
            <a:srgbClr val="8B1A0D"/>
          </a:solidFill>
          <a:ln w="12700">
            <a:solidFill>
              <a:srgbClr val="8B1A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Nota. La estratificación de la Fase 1 permite aplicar muestreo proporcional en la Fase 2, optimizando la precisión del estimador final (Scheaffer et al., 2006).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82296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Fase 2 — Medición Precisa con Calibrador (n₂ = 50)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0" cy="11430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Submuestra Estratificada Proporcional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4416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200 tornillos de la Fase 1, se seleccionan 50 de forma proporcional a cada estrato: A ≈ 44, B ≈ 5, C ≈ 2. Esto garantiza representatividad de todos los grupos.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0" cy="11430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con Calibrador Digital (±0.001 mm)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de los 50 tornillos se mide con calibrador Vernier digital. Se registra el diámetro exacto y se compara con [9.5, 10.5] mm para determinar conformidad.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640080" cy="11430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1188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Conformes vs. No Conformes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9592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47 tornillos conformes (94.0%) · 3 no conformes (6.0%) · Tasa de defectos estimada: 6.0%. Costo Fase 2: $5.00 × 50 = $250.00.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Resultados Estadísticos — Fase 2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70332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aritmética (x̄)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10.0491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cercana al nominal (10.0 mm). Proceso centrado.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(Me)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10.0491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a la media → distribución simétrica.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Desv. Estándar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0.2289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variabilidad. CV = 2.28%.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– Q3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9.9263 – 10.1567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50% central cae dentro de la especificación.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Asimetría (skew)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casi perfectamente simétrica.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(94.0%)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mayoría cumple la especificación 10 ± 0.5 mm.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conformes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(6.0%)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ligeramente sobre el límite aceptable del 5%.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Inferencia Estadística y Prueba de Hipótesis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POBLACIONAL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(defectos) = 6.00%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estándar: 3.36%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[0.00% — 12.58%]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estimados: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tornillos/día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IC: [0 — 1,258 tornillos]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poblacional: 10.0491 mm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[9.9858 — 10.1123] mm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7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HIPÓTESIS (α = 0.05)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p ≤ 5%  (proceso bajo control)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p &gt; 5%  (proceso fuera de control)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calculado = 0.3244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crítico   = 1.6449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    = 0.3728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DECISIÓN: No se rechaza H₀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está bajo control estadístico. No hay evidencia de que la tasa de defectos supere el 5%.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Análisis Comparativo de Costos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29184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completa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simple (n₂)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Muestreo Doble (F1+F2)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vs. completa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$49,650 (99.3%)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Nota. El muestreo doble reduce el costo de inspección en un 99.3% manteniendo la validez estadística de la estimación (Cochran, 1977, p. 327).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Conclusiones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2148840"/>
          </a:xfrm>
          <a:prstGeom prst="rect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E89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muestreo doble en dos fases permitió estimar la tasa de defectos en tornillos con un ahorro del 99.3% frente a la inspección completa.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estimada (x̄ = 10.0491 mm) está muy próxima al valor nominal, indicando un proceso centrado.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hipótesis (p-valor = 0.3728) no rechaza H₀: el proceso opera dentro del límite aceptable de 5% de defectos.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estratificación de la Fase 1 mejora la representatividad de la Fase 2 sin aumentar el costo de medición.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(APA 7.ª ed.)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37560"/>
            <a:ext cx="8412480" cy="0"/>
          </a:xfrm>
          <a:prstGeom prst="line">
            <a:avLst/>
          </a:prstGeom>
          <a:noFill/>
          <a:ln w="6350">
            <a:solidFill>
              <a:srgbClr val="C47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01568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Cochran, W. G. (1977). Sampling techniques (3rd ed.). John Wiley &amp; Sons.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Lohr, S. L. (2010). Sampling: Design and analysis (2nd ed.). Brooks/Cole.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Scheaffer, R. L., Mendenhall, W., &amp; Ott, R. L. (2006). Elementary survey sampling (6th ed.). Thomson.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Walpole, R. E., Myers, R. H., Myers, S. L., &amp; Ye, K. (2012). Probabilidad y estadística para ingeniería (9.ª ed.). Pearson.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Muestreo Doble — Paso a Paso (APA)</dc:title>
  <dc:subject>PptxGenJS Presentation</dc:subject>
  <dc:creator>PptxGenJS</dc:creator>
  <cp:lastModifiedBy>PptxGenJS</cp:lastModifiedBy>
  <cp:revision>1</cp:revision>
  <dcterms:created xsi:type="dcterms:W3CDTF">2026-05-05T20:34:07Z</dcterms:created>
  <dcterms:modified xsi:type="dcterms:W3CDTF">2026-05-05T20:34:07Z</dcterms:modified>
</cp:coreProperties>
</file>